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03493" y="777240"/>
            <a:ext cx="695453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 dirty="0">
                <a:solidFill>
                  <a:srgbClr val="102A43"/>
                </a:solidFill>
                <a:latin typeface="Aptos"/>
              </a:rPr>
              <a:t>Transfert</a:t>
            </a:r>
            <a:r>
              <a:rPr sz="3800" b="1" dirty="0">
                <a:solidFill>
                  <a:srgbClr val="102A43"/>
                </a:solidFill>
                <a:latin typeface="Aptos"/>
              </a:rPr>
              <a:t> UDP/DTLS </a:t>
            </a:r>
            <a:r>
              <a:rPr sz="3800" b="1" dirty="0">
                <a:solidFill>
                  <a:srgbClr val="102A43"/>
                </a:solidFill>
                <a:latin typeface="Aptos"/>
              </a:rPr>
              <a:t>securise</a:t>
            </a:r>
            <a:endParaRPr sz="38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2049" y="1600200"/>
            <a:ext cx="743742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dirty="0">
                <a:solidFill>
                  <a:srgbClr val="5B6974"/>
                </a:solidFill>
                <a:latin typeface="Aptos"/>
              </a:rPr>
              <a:t>DTLS-PSK avec AES-256-GCM, 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controle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d'acces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 et 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stockage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 multi-</a:t>
            </a:r>
            <a:r>
              <a:rPr sz="1700" b="0" dirty="0">
                <a:solidFill>
                  <a:srgbClr val="5B6974"/>
                </a:solidFill>
                <a:latin typeface="Aptos"/>
              </a:rPr>
              <a:t>fichiers</a:t>
            </a:r>
            <a:endParaRPr sz="170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0789920" cy="713232"/>
          </a:xfrm>
          <a:prstGeom prst="roundRect">
            <a:avLst/>
          </a:prstGeom>
          <a:solidFill>
            <a:srgbClr val="EA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86692" y="2286000"/>
            <a:ext cx="109881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02A43"/>
                </a:solidFill>
                <a:latin typeface="Aptos"/>
              </a:rPr>
              <a:t>Le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fichier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est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chiffre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avant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le transport UDP,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verifie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a la reception,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puis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dechiffre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uniquement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si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son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integrite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est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valide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2743200" cy="1417320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78992" y="3502152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31920"/>
            <a:ext cx="234086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identite</a:t>
            </a:r>
            <a:r>
              <a:rPr dirty="0"/>
              <a:t> PSK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SSL_write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blocs </a:t>
            </a:r>
            <a:r>
              <a:rPr dirty="0"/>
              <a:t>chiffres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709160" y="3337560"/>
            <a:ext cx="2743200" cy="1417320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380087" y="3502152"/>
            <a:ext cx="14013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Reseau</a:t>
            </a:r>
            <a:r>
              <a:rPr sz="1600" b="1" dirty="0">
                <a:solidFill>
                  <a:srgbClr val="102A43"/>
                </a:solidFill>
                <a:latin typeface="Aptos"/>
              </a:rPr>
              <a:t> UDP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3931920"/>
            <a:ext cx="234086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datagrammes</a:t>
            </a:r>
            <a:r>
              <a:rPr dirty="0"/>
              <a:t> DTLS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AES-256-GCM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tag </a:t>
            </a:r>
            <a:r>
              <a:rPr dirty="0"/>
              <a:t>d'integrite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503920" y="3337560"/>
            <a:ext cx="2743200" cy="1417320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401672" y="3502152"/>
            <a:ext cx="9476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Serveur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05088" y="3931920"/>
            <a:ext cx="234086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verification PSK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droits put/get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stored_files</a:t>
            </a:r>
            <a:endParaRPr dirty="0"/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41648"/>
            <a:ext cx="1051560" cy="0"/>
          </a:xfrm>
          <a:prstGeom prst="line">
            <a:avLst/>
          </a:prstGeom>
          <a:ln w="279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4041648"/>
            <a:ext cx="1051560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85032" y="3730752"/>
            <a:ext cx="1005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E76F51"/>
                </a:solidFill>
                <a:latin typeface="Aptos"/>
              </a:rPr>
              <a:t>DTLS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6736" y="3730752"/>
            <a:ext cx="83708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5178C7"/>
                </a:solidFill>
                <a:latin typeface="Aptos"/>
              </a:rPr>
              <a:t>SSL_read</a:t>
            </a:r>
            <a:endParaRPr sz="1100" b="1" dirty="0">
              <a:solidFill>
                <a:srgbClr val="5178C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1669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Architecture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generale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05271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serveur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agit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comme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relais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securise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entre les 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834640" cy="1508760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Client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243230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mode put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depot du </a:t>
            </a:r>
            <a:r>
              <a:rPr dirty="0"/>
              <a:t>fichier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nom original </a:t>
            </a:r>
            <a:r>
              <a:rPr dirty="0"/>
              <a:t>transmis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663440" y="1920240"/>
            <a:ext cx="2834640" cy="1508760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311157" y="2084832"/>
            <a:ext cx="15392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Serveur</a:t>
            </a:r>
            <a:r>
              <a:rPr sz="1600" b="1" dirty="0">
                <a:solidFill>
                  <a:srgbClr val="102A43"/>
                </a:solidFill>
                <a:latin typeface="Aptos"/>
              </a:rPr>
              <a:t> DTLS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2514600"/>
            <a:ext cx="243230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authentifie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stocke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redistribue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8595360" y="1920240"/>
            <a:ext cx="2834640" cy="1508760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759952" y="2084832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Client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514600"/>
            <a:ext cx="2432304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mode get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reception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reconstruction locale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651760"/>
            <a:ext cx="1097280" cy="0"/>
          </a:xfrm>
          <a:prstGeom prst="line">
            <a:avLst/>
          </a:prstGeom>
          <a:ln w="279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98079" y="2926080"/>
            <a:ext cx="1097281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2377440"/>
            <a:ext cx="1097281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20440" y="2304288"/>
            <a:ext cx="1234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E76F51"/>
                </a:solidFill>
                <a:latin typeface="Aptos"/>
              </a:rPr>
              <a:t>P +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044952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5178C7"/>
                </a:solidFill>
                <a:latin typeface="Aptos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48256"/>
            <a:ext cx="914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5178C7"/>
                </a:solidFill>
                <a:latin typeface="Aptos"/>
              </a:rPr>
              <a:t>S +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42416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transfert</a:t>
            </a:r>
            <a:r>
              <a:rPr dirty="0"/>
              <a:t> </a:t>
            </a:r>
            <a:r>
              <a:rPr dirty="0"/>
              <a:t>n'est</a:t>
            </a:r>
            <a:r>
              <a:rPr dirty="0"/>
              <a:t> pas un envoi direct A </a:t>
            </a:r>
            <a:r>
              <a:rPr dirty="0"/>
              <a:t>vers</a:t>
            </a:r>
            <a:r>
              <a:rPr dirty="0"/>
              <a:t> B.</a:t>
            </a:r>
          </a:p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A depose le </a:t>
            </a:r>
            <a:r>
              <a:rPr dirty="0"/>
              <a:t>fichier</a:t>
            </a:r>
            <a:r>
              <a:rPr dirty="0"/>
              <a:t> sur un </a:t>
            </a:r>
            <a:r>
              <a:rPr dirty="0"/>
              <a:t>serveur</a:t>
            </a:r>
            <a:r>
              <a:rPr dirty="0"/>
              <a:t> </a:t>
            </a:r>
            <a:r>
              <a:rPr dirty="0"/>
              <a:t>connu</a:t>
            </a:r>
            <a:r>
              <a:rPr dirty="0"/>
              <a:t> par IP et port.</a:t>
            </a:r>
          </a:p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B </a:t>
            </a:r>
            <a:r>
              <a:rPr dirty="0"/>
              <a:t>recupere</a:t>
            </a:r>
            <a:r>
              <a:rPr dirty="0"/>
              <a:t> le dernier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disponible</a:t>
            </a:r>
            <a:r>
              <a:rPr dirty="0"/>
              <a:t> sur </a:t>
            </a:r>
            <a:r>
              <a:rPr dirty="0"/>
              <a:t>ce</a:t>
            </a:r>
            <a:r>
              <a:rPr dirty="0"/>
              <a:t> meme </a:t>
            </a:r>
            <a:r>
              <a:rPr dirty="0"/>
              <a:t>serveur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Toutes</a:t>
            </a:r>
            <a:r>
              <a:rPr dirty="0"/>
              <a:t> les </a:t>
            </a:r>
            <a:r>
              <a:rPr dirty="0"/>
              <a:t>donnees</a:t>
            </a:r>
            <a:r>
              <a:rPr dirty="0"/>
              <a:t> </a:t>
            </a:r>
            <a:r>
              <a:rPr dirty="0"/>
              <a:t>utiles</a:t>
            </a:r>
            <a:r>
              <a:rPr dirty="0"/>
              <a:t> </a:t>
            </a:r>
            <a:r>
              <a:rPr dirty="0"/>
              <a:t>passent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</a:t>
            </a:r>
            <a:r>
              <a:rPr dirty="0"/>
              <a:t>une</a:t>
            </a:r>
            <a:r>
              <a:rPr dirty="0"/>
              <a:t> session DTLS </a:t>
            </a:r>
            <a:r>
              <a:rPr dirty="0"/>
              <a:t>chiffree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0658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Securite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imposee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dans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le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345158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Une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seule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suite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cryptographique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est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acceptee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53212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Suite unique: PSK-AES256-GCM-SHA384.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AES-128 </a:t>
            </a:r>
            <a:r>
              <a:rPr dirty="0"/>
              <a:t>n'est</a:t>
            </a:r>
            <a:r>
              <a:rPr dirty="0"/>
              <a:t> pas propose et </a:t>
            </a:r>
            <a:r>
              <a:rPr dirty="0"/>
              <a:t>n'est</a:t>
            </a:r>
            <a:r>
              <a:rPr dirty="0"/>
              <a:t> pas </a:t>
            </a:r>
            <a:r>
              <a:rPr dirty="0"/>
              <a:t>accepte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Le handshake </a:t>
            </a:r>
            <a:r>
              <a:rPr dirty="0"/>
              <a:t>echoue</a:t>
            </a:r>
            <a:r>
              <a:rPr dirty="0"/>
              <a:t> </a:t>
            </a:r>
            <a:r>
              <a:rPr dirty="0"/>
              <a:t>si</a:t>
            </a:r>
            <a:r>
              <a:rPr dirty="0"/>
              <a:t> un cote ne </a:t>
            </a:r>
            <a:r>
              <a:rPr dirty="0"/>
              <a:t>supporte</a:t>
            </a:r>
            <a:r>
              <a:rPr dirty="0"/>
              <a:t> pas </a:t>
            </a:r>
            <a:r>
              <a:rPr dirty="0"/>
              <a:t>cette</a:t>
            </a:r>
            <a:r>
              <a:rPr dirty="0"/>
              <a:t> suite </a:t>
            </a:r>
            <a:r>
              <a:rPr dirty="0"/>
              <a:t>exacte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La suite </a:t>
            </a:r>
            <a:r>
              <a:rPr dirty="0"/>
              <a:t>negociee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affichee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les </a:t>
            </a:r>
            <a:r>
              <a:rPr dirty="0"/>
              <a:t>journaux</a:t>
            </a:r>
            <a:r>
              <a:rPr dirty="0"/>
              <a:t> du client et du </a:t>
            </a:r>
            <a:r>
              <a:rPr dirty="0"/>
              <a:t>serveur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34440"/>
            <a:ext cx="507492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11112" y="1344168"/>
            <a:ext cx="474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03A"/>
                </a:solidFill>
                <a:latin typeface="Cascadia Mono"/>
              </a:defRPr>
            </a:pPr>
            <a:r>
              <a:rPr dirty="0"/>
              <a:t>SSL_CTX_set_cipher_list</a:t>
            </a:r>
            <a:r>
              <a:rPr dirty="0"/>
              <a:t>(</a:t>
            </a:r>
            <a:r>
              <a:rPr dirty="0"/>
              <a:t>ctx</a:t>
            </a:r>
            <a:r>
              <a:rPr dirty="0"/>
              <a:t>,</a:t>
            </a:r>
            <a:br>
              <a:rPr dirty="0"/>
            </a:br>
            <a:r>
              <a:rPr dirty="0"/>
              <a:t>    "PSK-AES256-GCM-SHA384");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150556"/>
              </p:ext>
            </p:extLst>
          </p:nvPr>
        </p:nvGraphicFramePr>
        <p:xfrm>
          <a:off x="822960" y="3749039"/>
          <a:ext cx="106070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95360"/>
              </a:tblGrid>
              <a:tr h="33832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Element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Role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PSK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Authentification par secret partage.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AES-256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Chiffrement symetrique avec une cle de 256 bits.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GCM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Chiffrement authentifie + tag d'integrite.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SHA-384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Hachage utilise par la suite DTLS pendant le handshake.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4823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Authentification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DTLS-PSK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397737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serveur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accepte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seulement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identites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declarees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834640" cy="1225296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psk_client.txt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identity=Client1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key=&lt;secret&gt;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00200"/>
            <a:ext cx="2834640" cy="1225296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828031" y="1764792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Handshake DTLS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2194560"/>
            <a:ext cx="243230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cookie DTLS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preuve</a:t>
            </a:r>
            <a:r>
              <a:rPr dirty="0"/>
              <a:t> PSK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suite AES-256-GCM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600200"/>
            <a:ext cx="2834640" cy="1225296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538832" y="1764792"/>
            <a:ext cx="9476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Serveur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2194560"/>
            <a:ext cx="243230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psk_clients.txt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secret </a:t>
            </a:r>
            <a:r>
              <a:rPr dirty="0"/>
              <a:t>correspondant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droits put/get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185416"/>
            <a:ext cx="1097280" cy="0"/>
          </a:xfrm>
          <a:prstGeom prst="line">
            <a:avLst/>
          </a:prstGeom>
          <a:ln w="279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185416"/>
            <a:ext cx="1097281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703320"/>
            <a:ext cx="1042416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client </a:t>
            </a:r>
            <a:r>
              <a:rPr dirty="0"/>
              <a:t>presente</a:t>
            </a:r>
            <a:r>
              <a:rPr dirty="0"/>
              <a:t> son </a:t>
            </a:r>
            <a:r>
              <a:rPr dirty="0"/>
              <a:t>identite</a:t>
            </a:r>
            <a:r>
              <a:rPr dirty="0"/>
              <a:t> PSK pendant le handshake.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serveur</a:t>
            </a:r>
            <a:r>
              <a:rPr dirty="0"/>
              <a:t> </a:t>
            </a:r>
            <a:r>
              <a:rPr dirty="0"/>
              <a:t>cherche</a:t>
            </a:r>
            <a:r>
              <a:rPr dirty="0"/>
              <a:t> </a:t>
            </a:r>
            <a:r>
              <a:rPr dirty="0"/>
              <a:t>cette</a:t>
            </a:r>
            <a:r>
              <a:rPr dirty="0"/>
              <a:t> </a:t>
            </a:r>
            <a:r>
              <a:rPr dirty="0"/>
              <a:t>identite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</a:t>
            </a:r>
            <a:r>
              <a:rPr dirty="0"/>
              <a:t>sa</a:t>
            </a:r>
            <a:r>
              <a:rPr dirty="0"/>
              <a:t> configuration.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Si le secret ne correspond pas, la session DTLS ne </a:t>
            </a:r>
            <a:r>
              <a:rPr dirty="0"/>
              <a:t>s'etablit</a:t>
            </a:r>
            <a:r>
              <a:rPr dirty="0"/>
              <a:t> pas.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Apres</a:t>
            </a:r>
            <a:r>
              <a:rPr dirty="0"/>
              <a:t> </a:t>
            </a:r>
            <a:r>
              <a:rPr dirty="0"/>
              <a:t>authentification</a:t>
            </a:r>
            <a:r>
              <a:rPr dirty="0"/>
              <a:t>, le </a:t>
            </a:r>
            <a:r>
              <a:rPr dirty="0"/>
              <a:t>serveur</a:t>
            </a:r>
            <a:r>
              <a:rPr dirty="0"/>
              <a:t> applique les droits put et 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551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Secrets et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utilisateurs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70192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Les secrets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sont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externalises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dans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des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fichiers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de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87552" y="1435607"/>
            <a:ext cx="474573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03A"/>
                </a:solidFill>
                <a:latin typeface="Cascadia Mono"/>
              </a:defRPr>
            </a:pPr>
            <a:r>
              <a:rPr dirty="0"/>
              <a:t>psk_client.txt</a:t>
            </a:r>
            <a:br>
              <a:rPr dirty="0"/>
            </a:br>
            <a:r>
              <a:rPr dirty="0"/>
              <a:t>identity=Client1</a:t>
            </a:r>
            <a:br>
              <a:rPr dirty="0"/>
            </a:br>
            <a:r>
              <a:rPr dirty="0"/>
              <a:t>key=&lt;secret local&gt;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28231" y="1435607"/>
            <a:ext cx="4745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03A"/>
                </a:solidFill>
                <a:latin typeface="Cascadia Mono"/>
              </a:defRPr>
            </a:pPr>
            <a:r>
              <a:rPr dirty="0"/>
              <a:t>psk_clients.txt</a:t>
            </a:r>
            <a:br>
              <a:rPr dirty="0"/>
            </a:br>
            <a:r>
              <a:rPr dirty="0"/>
              <a:t>Client1=&lt;secret local&gt;,</a:t>
            </a:r>
            <a:r>
              <a:rPr dirty="0"/>
              <a:t>put,get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42416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La </a:t>
            </a:r>
            <a:r>
              <a:rPr dirty="0"/>
              <a:t>cle</a:t>
            </a:r>
            <a:r>
              <a:rPr dirty="0"/>
              <a:t> PSK </a:t>
            </a:r>
            <a:r>
              <a:rPr dirty="0"/>
              <a:t>n'est</a:t>
            </a:r>
            <a:r>
              <a:rPr dirty="0"/>
              <a:t> plus </a:t>
            </a:r>
            <a:r>
              <a:rPr dirty="0"/>
              <a:t>une</a:t>
            </a:r>
            <a:r>
              <a:rPr dirty="0"/>
              <a:t> </a:t>
            </a:r>
            <a:r>
              <a:rPr dirty="0"/>
              <a:t>constante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le code C++.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Changer </a:t>
            </a:r>
            <a:r>
              <a:rPr dirty="0"/>
              <a:t>une</a:t>
            </a:r>
            <a:r>
              <a:rPr dirty="0"/>
              <a:t> </a:t>
            </a:r>
            <a:r>
              <a:rPr dirty="0"/>
              <a:t>identite</a:t>
            </a:r>
            <a:r>
              <a:rPr dirty="0"/>
              <a:t> </a:t>
            </a:r>
            <a:r>
              <a:rPr dirty="0"/>
              <a:t>ou</a:t>
            </a:r>
            <a:r>
              <a:rPr dirty="0"/>
              <a:t> </a:t>
            </a:r>
            <a:r>
              <a:rPr dirty="0"/>
              <a:t>une</a:t>
            </a:r>
            <a:r>
              <a:rPr dirty="0"/>
              <a:t> </a:t>
            </a:r>
            <a:r>
              <a:rPr dirty="0"/>
              <a:t>cle</a:t>
            </a:r>
            <a:r>
              <a:rPr dirty="0"/>
              <a:t> ne </a:t>
            </a:r>
            <a:r>
              <a:rPr dirty="0"/>
              <a:t>demande</a:t>
            </a:r>
            <a:r>
              <a:rPr dirty="0"/>
              <a:t> pas de recompilation.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serveur</a:t>
            </a:r>
            <a:r>
              <a:rPr dirty="0"/>
              <a:t> </a:t>
            </a:r>
            <a:r>
              <a:rPr dirty="0"/>
              <a:t>peut</a:t>
            </a:r>
            <a:r>
              <a:rPr dirty="0"/>
              <a:t> </a:t>
            </a:r>
            <a:r>
              <a:rPr dirty="0"/>
              <a:t>definir</a:t>
            </a:r>
            <a:r>
              <a:rPr dirty="0"/>
              <a:t> </a:t>
            </a:r>
            <a:r>
              <a:rPr dirty="0"/>
              <a:t>plusieurs</a:t>
            </a:r>
            <a:r>
              <a:rPr dirty="0"/>
              <a:t> </a:t>
            </a:r>
            <a:r>
              <a:rPr dirty="0"/>
              <a:t>utilisateurs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Les permissions </a:t>
            </a:r>
            <a:r>
              <a:rPr dirty="0"/>
              <a:t>sont</a:t>
            </a:r>
            <a:r>
              <a:rPr dirty="0"/>
              <a:t> </a:t>
            </a:r>
            <a:r>
              <a:rPr dirty="0"/>
              <a:t>associees</a:t>
            </a:r>
            <a:r>
              <a:rPr dirty="0"/>
              <a:t> a </a:t>
            </a:r>
            <a:r>
              <a:rPr dirty="0"/>
              <a:t>chaque</a:t>
            </a:r>
            <a:r>
              <a:rPr dirty="0"/>
              <a:t> </a:t>
            </a:r>
            <a:r>
              <a:rPr dirty="0"/>
              <a:t>identite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581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Chiffrement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pendant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l'envoi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595419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SSL_write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transforme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les messages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applicatifs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en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enregistrements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DTLS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chiffres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148840" cy="1280160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31256" y="1719072"/>
            <a:ext cx="8579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Fichier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174650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lecture locale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octets </a:t>
            </a:r>
            <a:r>
              <a:rPr dirty="0"/>
              <a:t>en</a:t>
            </a:r>
            <a:r>
              <a:rPr dirty="0"/>
              <a:t> </a:t>
            </a:r>
            <a:r>
              <a:rPr dirty="0"/>
              <a:t>clair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148840" cy="1280160"/>
          </a:xfrm>
          <a:prstGeom prst="roundRect">
            <a:avLst/>
          </a:prstGeom>
          <a:solidFill>
            <a:srgbClr val="F4F8FA"/>
          </a:solidFill>
          <a:ln w="17780"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813133" y="1719072"/>
            <a:ext cx="12891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MsgHeader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4448" y="2148840"/>
            <a:ext cx="174650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operation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sequence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longueur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2148840" cy="1280160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66717" y="1719072"/>
            <a:ext cx="11769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SSL_write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81928" y="2148840"/>
            <a:ext cx="1746504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AES-256-GCM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tag GCM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554480"/>
            <a:ext cx="2148840" cy="1280160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942832" y="1719072"/>
            <a:ext cx="1819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UDP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148840"/>
            <a:ext cx="174650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datagramme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contenu</a:t>
            </a:r>
            <a:r>
              <a:rPr dirty="0"/>
              <a:t> </a:t>
            </a:r>
            <a:r>
              <a:rPr dirty="0"/>
              <a:t>chiffre</a:t>
            </a: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194560"/>
            <a:ext cx="548640" cy="0"/>
          </a:xfrm>
          <a:prstGeom prst="line">
            <a:avLst/>
          </a:prstGeom>
          <a:ln w="279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32120" y="2194560"/>
            <a:ext cx="548640" cy="0"/>
          </a:xfrm>
          <a:prstGeom prst="line">
            <a:avLst/>
          </a:prstGeom>
          <a:ln w="279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194560"/>
            <a:ext cx="548640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840480"/>
            <a:ext cx="1042416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decoupe</a:t>
            </a:r>
            <a:r>
              <a:rPr dirty="0"/>
              <a:t> </a:t>
            </a:r>
            <a:r>
              <a:rPr dirty="0"/>
              <a:t>en</a:t>
            </a:r>
            <a:r>
              <a:rPr dirty="0"/>
              <a:t> blocs de 8192 octets maximum.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Chaque</a:t>
            </a:r>
            <a:r>
              <a:rPr dirty="0"/>
              <a:t> bloc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encapsule</a:t>
            </a:r>
            <a:r>
              <a:rPr dirty="0"/>
              <a:t> avec un </a:t>
            </a:r>
            <a:r>
              <a:rPr dirty="0"/>
              <a:t>en-tete</a:t>
            </a:r>
            <a:r>
              <a:rPr dirty="0"/>
              <a:t> </a:t>
            </a:r>
            <a:r>
              <a:rPr dirty="0"/>
              <a:t>applicatif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OpenSSL </a:t>
            </a:r>
            <a:r>
              <a:rPr dirty="0"/>
              <a:t>chiffre</a:t>
            </a:r>
            <a:r>
              <a:rPr dirty="0"/>
              <a:t> le message </a:t>
            </a:r>
            <a:r>
              <a:rPr dirty="0"/>
              <a:t>complet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la session DTLS.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reseau</a:t>
            </a:r>
            <a:r>
              <a:rPr dirty="0"/>
              <a:t> ne </a:t>
            </a:r>
            <a:r>
              <a:rPr dirty="0"/>
              <a:t>voit</a:t>
            </a:r>
            <a:r>
              <a:rPr dirty="0"/>
              <a:t> pas le bloc de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en</a:t>
            </a:r>
            <a:r>
              <a:rPr dirty="0"/>
              <a:t> </a:t>
            </a:r>
            <a:r>
              <a:rPr dirty="0"/>
              <a:t>clair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6723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Verification et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dechiffrement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524374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SSL_read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remet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donnees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au code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seulement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si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l'integrite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est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valide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468880" cy="1298448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53725" y="1719072"/>
            <a:ext cx="19159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Datagramme</a:t>
            </a:r>
            <a:r>
              <a:rPr sz="1600" b="1" dirty="0">
                <a:solidFill>
                  <a:srgbClr val="102A43"/>
                </a:solidFill>
                <a:latin typeface="Aptos"/>
              </a:rPr>
              <a:t> UDP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48840"/>
            <a:ext cx="206654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enregistrement</a:t>
            </a:r>
            <a:r>
              <a:rPr dirty="0"/>
              <a:t> DTLS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contenu</a:t>
            </a:r>
            <a:r>
              <a:rPr dirty="0"/>
              <a:t> </a:t>
            </a:r>
            <a:r>
              <a:rPr dirty="0"/>
              <a:t>chiffre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468880" cy="1298448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822191" y="1719072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Verification GCM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148840"/>
            <a:ext cx="206654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tag </a:t>
            </a:r>
            <a:r>
              <a:rPr dirty="0"/>
              <a:t>d'integrite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rejet</a:t>
            </a:r>
            <a:r>
              <a:rPr dirty="0"/>
              <a:t> </a:t>
            </a:r>
            <a:r>
              <a:rPr dirty="0"/>
              <a:t>si</a:t>
            </a:r>
            <a:r>
              <a:rPr dirty="0"/>
              <a:t> </a:t>
            </a:r>
            <a:r>
              <a:rPr dirty="0"/>
              <a:t>modifie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537960" y="1554480"/>
            <a:ext cx="2468880" cy="1298448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989974" y="1719072"/>
            <a:ext cx="15648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Dechiffrement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39128" y="2148840"/>
            <a:ext cx="206654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SSL_read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message </a:t>
            </a:r>
            <a:r>
              <a:rPr dirty="0"/>
              <a:t>valide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418320" y="1554480"/>
            <a:ext cx="2103120" cy="1298448"/>
          </a:xfrm>
          <a:prstGeom prst="roundRect">
            <a:avLst/>
          </a:prstGeom>
          <a:solidFill>
            <a:srgbClr val="F4F8FA"/>
          </a:solidFill>
          <a:ln w="17780"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0040916" y="1719072"/>
            <a:ext cx="8579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Fichier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19488" y="2148840"/>
            <a:ext cx="1700784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bloc </a:t>
            </a:r>
            <a:r>
              <a:rPr dirty="0"/>
              <a:t>ecrit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ACK </a:t>
            </a:r>
            <a:r>
              <a:rPr dirty="0"/>
              <a:t>envoye</a:t>
            </a:r>
            <a:endParaRPr dirty="0"/>
          </a:p>
        </p:txBody>
      </p:sp>
      <p:cxnSp>
        <p:nvCxnSpPr>
          <p:cNvPr id="18" name="Connector 17"/>
          <p:cNvCxnSpPr/>
          <p:nvPr/>
        </p:nvCxnSpPr>
        <p:spPr>
          <a:xfrm>
            <a:off x="3246120" y="2194560"/>
            <a:ext cx="411480" cy="0"/>
          </a:xfrm>
          <a:prstGeom prst="line">
            <a:avLst/>
          </a:prstGeom>
          <a:ln w="27940">
            <a:solidFill>
              <a:srgbClr val="51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6480" y="2194560"/>
            <a:ext cx="411480" cy="0"/>
          </a:xfrm>
          <a:prstGeom prst="line">
            <a:avLst/>
          </a:prstGeom>
          <a:ln w="2794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2194560"/>
            <a:ext cx="411480" cy="0"/>
          </a:xfrm>
          <a:prstGeom prst="line">
            <a:avLst/>
          </a:prstGeom>
          <a:ln w="2794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794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Si un </a:t>
            </a:r>
            <a:r>
              <a:rPr dirty="0"/>
              <a:t>paquet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modifie</a:t>
            </a:r>
            <a:r>
              <a:rPr dirty="0"/>
              <a:t>, GCM </a:t>
            </a:r>
            <a:r>
              <a:rPr dirty="0"/>
              <a:t>detecte</a:t>
            </a:r>
            <a:r>
              <a:rPr dirty="0"/>
              <a:t> </a:t>
            </a:r>
            <a:r>
              <a:rPr dirty="0"/>
              <a:t>l'anomalie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Un message </a:t>
            </a:r>
            <a:r>
              <a:rPr dirty="0"/>
              <a:t>invalide</a:t>
            </a:r>
            <a:r>
              <a:rPr dirty="0"/>
              <a:t> </a:t>
            </a:r>
            <a:r>
              <a:rPr dirty="0"/>
              <a:t>n'est</a:t>
            </a:r>
            <a:r>
              <a:rPr dirty="0"/>
              <a:t> pas </a:t>
            </a:r>
            <a:r>
              <a:rPr dirty="0"/>
              <a:t>remis</a:t>
            </a:r>
            <a:r>
              <a:rPr dirty="0"/>
              <a:t> au </a:t>
            </a:r>
            <a:r>
              <a:rPr dirty="0"/>
              <a:t>protocole</a:t>
            </a:r>
            <a:r>
              <a:rPr dirty="0"/>
              <a:t> </a:t>
            </a:r>
            <a:r>
              <a:rPr dirty="0"/>
              <a:t>applicatif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Un message </a:t>
            </a:r>
            <a:r>
              <a:rPr dirty="0"/>
              <a:t>valide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dechiffre</a:t>
            </a:r>
            <a:r>
              <a:rPr dirty="0"/>
              <a:t>, </a:t>
            </a:r>
            <a:r>
              <a:rPr dirty="0"/>
              <a:t>puis</a:t>
            </a:r>
            <a:r>
              <a:rPr dirty="0"/>
              <a:t> son </a:t>
            </a:r>
            <a:r>
              <a:rPr dirty="0"/>
              <a:t>numero</a:t>
            </a:r>
            <a:r>
              <a:rPr dirty="0"/>
              <a:t> de sequence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verifie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bloc </a:t>
            </a:r>
            <a:r>
              <a:rPr dirty="0"/>
              <a:t>attendu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ecrit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le </a:t>
            </a:r>
            <a:r>
              <a:rPr dirty="0"/>
              <a:t>fichier</a:t>
            </a:r>
            <a:r>
              <a:rPr dirty="0"/>
              <a:t>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816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Protocole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applicatif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45987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Les messages P/G/S/D/A/E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organisent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transfert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du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fichier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12502"/>
              </p:ext>
            </p:extLst>
          </p:nvPr>
        </p:nvGraphicFramePr>
        <p:xfrm>
          <a:off x="685800" y="1325880"/>
          <a:ext cx="108356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834640"/>
                <a:gridCol w="7086600"/>
              </a:tblGrid>
              <a:tr h="43760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Code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Sens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Role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P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Client -&gt; Serveur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Debut d'un depot: taille totale + nom original.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G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Client -&gt; Serveur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Demande du dernier fichier stocke.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S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Serveur -&gt; Client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Taille totale + nom original du fichier.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Deux sens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Bloc de donnees numerote.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A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Deux sens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Accuse de reception.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E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Serveur -&gt; Client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Erreur ou acces refuse.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37760"/>
            <a:ext cx="1024128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protocole</a:t>
            </a:r>
            <a:r>
              <a:rPr dirty="0"/>
              <a:t> </a:t>
            </a:r>
            <a:r>
              <a:rPr dirty="0"/>
              <a:t>applicatif</a:t>
            </a:r>
            <a:r>
              <a:rPr dirty="0"/>
              <a:t> </a:t>
            </a:r>
            <a:r>
              <a:rPr dirty="0"/>
              <a:t>circule</a:t>
            </a:r>
            <a:r>
              <a:rPr dirty="0"/>
              <a:t> </a:t>
            </a:r>
            <a:r>
              <a:rPr dirty="0"/>
              <a:t>lui</a:t>
            </a:r>
            <a:r>
              <a:rPr dirty="0"/>
              <a:t> </a:t>
            </a:r>
            <a:r>
              <a:rPr dirty="0"/>
              <a:t>aussi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DTLS.</a:t>
            </a:r>
          </a:p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Les </a:t>
            </a:r>
            <a:r>
              <a:rPr dirty="0"/>
              <a:t>numeros</a:t>
            </a:r>
            <a:r>
              <a:rPr dirty="0"/>
              <a:t> de sequence </a:t>
            </a:r>
            <a:r>
              <a:rPr dirty="0"/>
              <a:t>permettent</a:t>
            </a:r>
            <a:r>
              <a:rPr dirty="0"/>
              <a:t> de </a:t>
            </a:r>
            <a:r>
              <a:rPr dirty="0"/>
              <a:t>reconstruire</a:t>
            </a:r>
            <a:r>
              <a:rPr dirty="0"/>
              <a:t> le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</a:t>
            </a:r>
            <a:r>
              <a:rPr dirty="0"/>
              <a:t>l'ordre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6323A"/>
                </a:solidFill>
                <a:latin typeface="Aptos"/>
              </a:defRPr>
            </a:pPr>
            <a:r>
              <a:rPr dirty="0"/>
              <a:t>Les ACK </a:t>
            </a:r>
            <a:r>
              <a:rPr dirty="0"/>
              <a:t>compensent</a:t>
            </a:r>
            <a:r>
              <a:rPr dirty="0"/>
              <a:t> les </a:t>
            </a:r>
            <a:r>
              <a:rPr dirty="0"/>
              <a:t>pertes</a:t>
            </a:r>
            <a:r>
              <a:rPr dirty="0"/>
              <a:t> </a:t>
            </a:r>
            <a:r>
              <a:rPr dirty="0"/>
              <a:t>possibles</a:t>
            </a:r>
            <a:r>
              <a:rPr dirty="0"/>
              <a:t> de UDP.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0059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Depot d'un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fichier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533671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Mode put: 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serveur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stocke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un nouveau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fichier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sans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ecraser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anciens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48640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client lit le </a:t>
            </a:r>
            <a:r>
              <a:rPr dirty="0"/>
              <a:t>fichier</a:t>
            </a:r>
            <a:r>
              <a:rPr dirty="0"/>
              <a:t> et </a:t>
            </a:r>
            <a:r>
              <a:rPr dirty="0"/>
              <a:t>calcule</a:t>
            </a:r>
            <a:r>
              <a:rPr dirty="0"/>
              <a:t> </a:t>
            </a:r>
            <a:r>
              <a:rPr dirty="0"/>
              <a:t>sa</a:t>
            </a:r>
            <a:r>
              <a:rPr dirty="0"/>
              <a:t> </a:t>
            </a:r>
            <a:r>
              <a:rPr dirty="0"/>
              <a:t>taille</a:t>
            </a:r>
            <a:r>
              <a:rPr dirty="0"/>
              <a:t> </a:t>
            </a:r>
            <a:r>
              <a:rPr dirty="0"/>
              <a:t>totale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message P </a:t>
            </a:r>
            <a:r>
              <a:rPr dirty="0"/>
              <a:t>annonce</a:t>
            </a:r>
            <a:r>
              <a:rPr dirty="0"/>
              <a:t> la </a:t>
            </a:r>
            <a:r>
              <a:rPr dirty="0"/>
              <a:t>taille</a:t>
            </a:r>
            <a:r>
              <a:rPr dirty="0"/>
              <a:t> et le nom original.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envoye</a:t>
            </a:r>
            <a:r>
              <a:rPr dirty="0"/>
              <a:t> par blocs D </a:t>
            </a:r>
            <a:r>
              <a:rPr dirty="0"/>
              <a:t>numerotes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serveur</a:t>
            </a:r>
            <a:r>
              <a:rPr dirty="0"/>
              <a:t> </a:t>
            </a:r>
            <a:r>
              <a:rPr dirty="0"/>
              <a:t>confirme</a:t>
            </a:r>
            <a:r>
              <a:rPr dirty="0"/>
              <a:t> </a:t>
            </a:r>
            <a:r>
              <a:rPr dirty="0"/>
              <a:t>chaque</a:t>
            </a:r>
            <a:r>
              <a:rPr dirty="0"/>
              <a:t> bloc avec A.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fichier</a:t>
            </a:r>
            <a:r>
              <a:rPr dirty="0"/>
              <a:t> </a:t>
            </a:r>
            <a:r>
              <a:rPr dirty="0"/>
              <a:t>est</a:t>
            </a:r>
            <a:r>
              <a:rPr dirty="0"/>
              <a:t> </a:t>
            </a:r>
            <a:r>
              <a:rPr dirty="0"/>
              <a:t>enregistre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</a:t>
            </a:r>
            <a:r>
              <a:rPr dirty="0"/>
              <a:t>stored_files</a:t>
            </a:r>
            <a:r>
              <a:rPr dirty="0"/>
              <a:t> avec </a:t>
            </a:r>
            <a:r>
              <a:rPr dirty="0"/>
              <a:t>horodatage</a:t>
            </a:r>
            <a:r>
              <a:rPr dirty="0"/>
              <a:t> et </a:t>
            </a:r>
            <a:r>
              <a:rPr dirty="0"/>
              <a:t>proprietaire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49834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56831" y="1527048"/>
            <a:ext cx="465429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03A"/>
                </a:solidFill>
                <a:latin typeface="Cascadia Mono"/>
              </a:defRPr>
            </a:pPr>
            <a:r>
              <a:rPr dirty="0"/>
              <a:t>stored_files</a:t>
            </a:r>
            <a:r>
              <a:rPr dirty="0"/>
              <a:t>\20260416_115131_Client1_rapport_original.txt</a:t>
            </a:r>
            <a:br>
              <a:rPr dirty="0"/>
            </a:br>
            <a:r>
              <a:rPr dirty="0"/>
              <a:t>stored_files</a:t>
            </a:r>
            <a:r>
              <a:rPr dirty="0"/>
              <a:t>\latest.txt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4983480" cy="1325880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36393" y="3410712"/>
            <a:ext cx="10951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Stockage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93407" y="3840480"/>
            <a:ext cx="458114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plusieurs</a:t>
            </a:r>
            <a:r>
              <a:rPr dirty="0"/>
              <a:t> depots conserves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dernier </a:t>
            </a:r>
            <a:r>
              <a:rPr dirty="0"/>
              <a:t>fichier</a:t>
            </a:r>
            <a:r>
              <a:rPr dirty="0"/>
              <a:t> reference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nom original </a:t>
            </a:r>
            <a:r>
              <a:rPr dirty="0"/>
              <a:t>nettoye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19377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Recuperation d'un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fichier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53842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Mode get: le client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reconstruit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fichier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avec son nom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53212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client </a:t>
            </a:r>
            <a:r>
              <a:rPr dirty="0"/>
              <a:t>envoie</a:t>
            </a:r>
            <a:r>
              <a:rPr dirty="0"/>
              <a:t> G au </a:t>
            </a:r>
            <a:r>
              <a:rPr dirty="0"/>
              <a:t>serveur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serveur</a:t>
            </a:r>
            <a:r>
              <a:rPr dirty="0"/>
              <a:t> </a:t>
            </a:r>
            <a:r>
              <a:rPr dirty="0"/>
              <a:t>verifie</a:t>
            </a:r>
            <a:r>
              <a:rPr dirty="0"/>
              <a:t> le droit get de </a:t>
            </a:r>
            <a:r>
              <a:rPr dirty="0"/>
              <a:t>l'identite</a:t>
            </a:r>
            <a:r>
              <a:rPr dirty="0"/>
              <a:t> PSK.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serveur</a:t>
            </a:r>
            <a:r>
              <a:rPr dirty="0"/>
              <a:t> lit latest.txt pour </a:t>
            </a:r>
            <a:r>
              <a:rPr dirty="0"/>
              <a:t>retrouver</a:t>
            </a:r>
            <a:r>
              <a:rPr dirty="0"/>
              <a:t> le dernier </a:t>
            </a:r>
            <a:r>
              <a:rPr dirty="0"/>
              <a:t>fichier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message S </a:t>
            </a:r>
            <a:r>
              <a:rPr dirty="0"/>
              <a:t>renvoie</a:t>
            </a:r>
            <a:r>
              <a:rPr dirty="0"/>
              <a:t> la </a:t>
            </a:r>
            <a:r>
              <a:rPr dirty="0"/>
              <a:t>taille</a:t>
            </a:r>
            <a:r>
              <a:rPr dirty="0"/>
              <a:t> et le nom original.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client </a:t>
            </a:r>
            <a:r>
              <a:rPr dirty="0"/>
              <a:t>ecrit</a:t>
            </a:r>
            <a:r>
              <a:rPr dirty="0"/>
              <a:t> les blocs </a:t>
            </a:r>
            <a:r>
              <a:rPr dirty="0"/>
              <a:t>dans</a:t>
            </a:r>
            <a:r>
              <a:rPr dirty="0"/>
              <a:t> le dossier </a:t>
            </a:r>
            <a:r>
              <a:rPr dirty="0"/>
              <a:t>choisi</a:t>
            </a:r>
            <a:r>
              <a:rPr dirty="0"/>
              <a:t> avec </a:t>
            </a:r>
            <a:r>
              <a:rPr dirty="0"/>
              <a:t>l'extension</a:t>
            </a:r>
            <a:r>
              <a:rPr dirty="0"/>
              <a:t> </a:t>
            </a:r>
            <a:r>
              <a:rPr dirty="0"/>
              <a:t>originale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526280" cy="1234440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378617" y="1581912"/>
            <a:ext cx="10278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Exemple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0568" y="2011680"/>
            <a:ext cx="412394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rapport_original.txt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nom conserve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extension </a:t>
            </a:r>
            <a:r>
              <a:rPr dirty="0"/>
              <a:t>conservee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629400" y="3063240"/>
            <a:ext cx="4526280" cy="1234440"/>
          </a:xfrm>
          <a:prstGeom prst="roundRect">
            <a:avLst/>
          </a:prstGeom>
          <a:solidFill>
            <a:srgbClr val="FFF4E8"/>
          </a:solidFill>
          <a:ln w="177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793992" y="3227832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3657600"/>
            <a:ext cx="412394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hash SHA-256 </a:t>
            </a:r>
            <a:r>
              <a:rPr dirty="0"/>
              <a:t>identique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transfert</a:t>
            </a:r>
            <a:r>
              <a:rPr dirty="0"/>
              <a:t> </a:t>
            </a:r>
            <a:r>
              <a:rPr dirty="0"/>
              <a:t>termine</a:t>
            </a:r>
            <a:endParaRPr dirty="0"/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AES-256-GCM </a:t>
            </a:r>
            <a:r>
              <a:rPr dirty="0"/>
              <a:t>confirme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4694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Fiabilite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au-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dessus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de UDP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77515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UDP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est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rapide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,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mais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le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protocole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ajoute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ACK et retransmissions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57784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UDP ne </a:t>
            </a:r>
            <a:r>
              <a:rPr dirty="0"/>
              <a:t>garantit</a:t>
            </a:r>
            <a:r>
              <a:rPr dirty="0"/>
              <a:t> pas la livraison de </a:t>
            </a:r>
            <a:r>
              <a:rPr dirty="0"/>
              <a:t>chaque</a:t>
            </a:r>
            <a:r>
              <a:rPr dirty="0"/>
              <a:t> </a:t>
            </a:r>
            <a:r>
              <a:rPr dirty="0"/>
              <a:t>datagramme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Chaque</a:t>
            </a:r>
            <a:r>
              <a:rPr dirty="0"/>
              <a:t> bloc D </a:t>
            </a:r>
            <a:r>
              <a:rPr dirty="0"/>
              <a:t>possede</a:t>
            </a:r>
            <a:r>
              <a:rPr dirty="0"/>
              <a:t> un </a:t>
            </a:r>
            <a:r>
              <a:rPr dirty="0"/>
              <a:t>numero</a:t>
            </a:r>
            <a:r>
              <a:rPr dirty="0"/>
              <a:t> de sequence.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recepteur</a:t>
            </a:r>
            <a:r>
              <a:rPr dirty="0"/>
              <a:t> </a:t>
            </a:r>
            <a:r>
              <a:rPr dirty="0"/>
              <a:t>renvoie</a:t>
            </a:r>
            <a:r>
              <a:rPr dirty="0"/>
              <a:t> A pour confirmer le bloc </a:t>
            </a:r>
            <a:r>
              <a:rPr dirty="0"/>
              <a:t>recu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Sans ACK, </a:t>
            </a:r>
            <a:r>
              <a:rPr dirty="0"/>
              <a:t>l'emetteur</a:t>
            </a:r>
            <a:r>
              <a:rPr dirty="0"/>
              <a:t> </a:t>
            </a:r>
            <a:r>
              <a:rPr dirty="0"/>
              <a:t>renvoie</a:t>
            </a:r>
            <a:r>
              <a:rPr dirty="0"/>
              <a:t> le meme bloc </a:t>
            </a:r>
            <a:r>
              <a:rPr dirty="0"/>
              <a:t>jusqu'a</a:t>
            </a:r>
            <a:r>
              <a:rPr dirty="0"/>
              <a:t> </a:t>
            </a:r>
            <a:r>
              <a:rPr dirty="0"/>
              <a:t>une</a:t>
            </a:r>
            <a:r>
              <a:rPr dirty="0"/>
              <a:t> </a:t>
            </a:r>
            <a:r>
              <a:rPr dirty="0"/>
              <a:t>limite</a:t>
            </a:r>
            <a:r>
              <a:rPr dirty="0"/>
              <a:t> </a:t>
            </a:r>
            <a:r>
              <a:rPr dirty="0"/>
              <a:t>d'essais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600">
                <a:solidFill>
                  <a:srgbClr val="26323A"/>
                </a:solidFill>
                <a:latin typeface="Aptos"/>
              </a:defRPr>
            </a:pPr>
            <a:r>
              <a:rPr dirty="0"/>
              <a:t>Les </a:t>
            </a:r>
            <a:r>
              <a:rPr dirty="0"/>
              <a:t>doublons</a:t>
            </a:r>
            <a:r>
              <a:rPr dirty="0"/>
              <a:t> </a:t>
            </a:r>
            <a:r>
              <a:rPr dirty="0"/>
              <a:t>sont</a:t>
            </a:r>
            <a:r>
              <a:rPr dirty="0"/>
              <a:t> </a:t>
            </a:r>
            <a:r>
              <a:rPr dirty="0"/>
              <a:t>confirmes</a:t>
            </a:r>
            <a:r>
              <a:rPr dirty="0"/>
              <a:t> </a:t>
            </a:r>
            <a:r>
              <a:rPr dirty="0"/>
              <a:t>mais</a:t>
            </a:r>
            <a:r>
              <a:rPr dirty="0"/>
              <a:t> ne </a:t>
            </a:r>
            <a:r>
              <a:rPr dirty="0"/>
              <a:t>sont</a:t>
            </a:r>
            <a:r>
              <a:rPr dirty="0"/>
              <a:t> pas </a:t>
            </a:r>
            <a:r>
              <a:rPr dirty="0"/>
              <a:t>reecrits</a:t>
            </a:r>
            <a:r>
              <a:rPr dirty="0"/>
              <a:t> </a:t>
            </a:r>
            <a:r>
              <a:rPr dirty="0"/>
              <a:t>dans</a:t>
            </a:r>
            <a:r>
              <a:rPr dirty="0"/>
              <a:t> le </a:t>
            </a:r>
            <a:r>
              <a:rPr dirty="0"/>
              <a:t>fichier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00199"/>
            <a:ext cx="4480560" cy="1216151"/>
          </a:xfrm>
          <a:prstGeom prst="roundRect">
            <a:avLst/>
          </a:prstGeom>
          <a:solidFill>
            <a:srgbClr val="EEF3FF"/>
          </a:solidFill>
          <a:ln w="17780">
            <a:solidFill>
              <a:srgbClr val="517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372589" y="1764792"/>
            <a:ext cx="9941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Securite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0568" y="2194560"/>
            <a:ext cx="4078224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DTLS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AES-256-GCM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integrite</a:t>
            </a:r>
            <a:r>
              <a:rPr dirty="0"/>
              <a:t> </a:t>
            </a:r>
            <a:r>
              <a:rPr dirty="0"/>
              <a:t>cryptographique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629400" y="2971800"/>
            <a:ext cx="4480560" cy="1252728"/>
          </a:xfrm>
          <a:prstGeom prst="roundRect">
            <a:avLst/>
          </a:prstGeom>
          <a:solidFill>
            <a:srgbClr val="EAF6F4"/>
          </a:solidFill>
          <a:ln w="1778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388619" y="3136392"/>
            <a:ext cx="9621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02A43"/>
                </a:solidFill>
                <a:latin typeface="Aptos"/>
              </a:rPr>
              <a:t>Fiabilite</a:t>
            </a:r>
            <a:endParaRPr sz="1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0568" y="3566160"/>
            <a:ext cx="4078224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ACK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sequence</a:t>
            </a:r>
          </a:p>
          <a:p>
            <a:pPr algn="ctr">
              <a:spcAft>
                <a:spcPts val="200"/>
              </a:spcAft>
              <a:defRPr sz="1150">
                <a:solidFill>
                  <a:srgbClr val="26323A"/>
                </a:solidFill>
                <a:latin typeface="Aptos"/>
              </a:defRPr>
            </a:pPr>
            <a:r>
              <a:rPr dirty="0"/>
              <a:t>retransmission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8600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Controle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2600" b="1" dirty="0">
                <a:solidFill>
                  <a:srgbClr val="102A43"/>
                </a:solidFill>
                <a:latin typeface="Aptos"/>
              </a:rPr>
              <a:t>d'acces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380424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Les operations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sont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autorisees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selon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l'identite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PSK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29201"/>
              </p:ext>
            </p:extLst>
          </p:nvPr>
        </p:nvGraphicFramePr>
        <p:xfrm>
          <a:off x="914400" y="132588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4754880"/>
              </a:tblGrid>
              <a:tr h="5029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Operation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Droit requis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Effet si absent</a:t>
                      </a:r>
                    </a:p>
                  </a:txBody>
                  <a:tcPr marL="73152" marR="73152">
                    <a:solidFill>
                      <a:srgbClr val="10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Depot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put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Le serveur refuse de stocker le fichier.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Recuperation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get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Le serveur refuse de redistribuer le fichier.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Handshake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identite + secret valides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23A"/>
                          </a:solidFill>
                          <a:latin typeface="Aptos"/>
                        </a:defRPr>
                      </a:pPr>
                      <a:r>
                        <a:rPr dirty="0"/>
                        <a:t>La session DTLS echoue.</a:t>
                      </a:r>
                    </a:p>
                  </a:txBody>
                  <a:tcPr marL="73152" marR="73152">
                    <a:solidFill>
                      <a:srgbClr val="FAFC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3886200"/>
            <a:ext cx="996696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261872" y="3995928"/>
            <a:ext cx="96377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303A"/>
                </a:solidFill>
                <a:latin typeface="Cascadia Mono"/>
              </a:defRPr>
            </a:pPr>
            <a:r>
              <a:rPr dirty="0"/>
              <a:t>psk_clients.txt</a:t>
            </a:r>
            <a:br>
              <a:rPr dirty="0"/>
            </a:br>
            <a:r>
              <a:rPr dirty="0"/>
              <a:t>Client1=&lt;secret local&gt;,</a:t>
            </a:r>
            <a:r>
              <a:rPr dirty="0"/>
              <a:t>put,get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02A43"/>
                </a:solidFill>
                <a:latin typeface="Aptos"/>
              </a:rPr>
              <a:t>Validation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351410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Resultats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observes pendant le test de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transfert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744200" cy="1645920"/>
          </a:xfrm>
          <a:prstGeom prst="roundRect">
            <a:avLst/>
          </a:prstGeom>
          <a:solidFill>
            <a:srgbClr val="F4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104150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03A"/>
                </a:solidFill>
                <a:latin typeface="Cascadia Mono"/>
              </a:defRPr>
            </a:pPr>
            <a:r>
              <a:rPr dirty="0"/>
              <a:t>Identite</a:t>
            </a:r>
            <a:r>
              <a:rPr dirty="0"/>
              <a:t> PSK client: Client1</a:t>
            </a:r>
            <a:br>
              <a:rPr dirty="0"/>
            </a:br>
            <a:r>
              <a:rPr dirty="0"/>
              <a:t>Suite DTLS </a:t>
            </a:r>
            <a:r>
              <a:rPr dirty="0"/>
              <a:t>negociee</a:t>
            </a:r>
            <a:r>
              <a:rPr dirty="0"/>
              <a:t>: PSK-AES256-GCM-SHA384</a:t>
            </a:r>
            <a:br>
              <a:rPr dirty="0"/>
            </a:br>
            <a:r>
              <a:rPr dirty="0"/>
              <a:t>Nom original </a:t>
            </a:r>
            <a:r>
              <a:rPr dirty="0"/>
              <a:t>envoye</a:t>
            </a:r>
            <a:r>
              <a:rPr dirty="0"/>
              <a:t>: rapport_original.txt</a:t>
            </a:r>
            <a:br>
              <a:rPr dirty="0"/>
            </a:br>
            <a:r>
              <a:rPr dirty="0"/>
              <a:t>Nom original </a:t>
            </a:r>
            <a:r>
              <a:rPr dirty="0"/>
              <a:t>recu</a:t>
            </a:r>
            <a:r>
              <a:rPr dirty="0"/>
              <a:t>: rapport_original.txt</a:t>
            </a:r>
            <a:br>
              <a:rPr dirty="0"/>
            </a:br>
            <a:r>
              <a:rPr dirty="0"/>
              <a:t>Transfert</a:t>
            </a:r>
            <a:r>
              <a:rPr dirty="0"/>
              <a:t> </a:t>
            </a:r>
            <a:r>
              <a:rPr dirty="0"/>
              <a:t>termine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4468"/>
            <a:ext cx="16690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 smtClean="0">
                <a:solidFill>
                  <a:srgbClr val="102A43"/>
                </a:solidFill>
                <a:latin typeface="Aptos"/>
              </a:rPr>
              <a:t>Synthese</a:t>
            </a:r>
            <a:endParaRPr sz="2600" b="1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463024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dirty="0">
                <a:solidFill>
                  <a:srgbClr val="5B6974"/>
                </a:solidFill>
                <a:latin typeface="Aptos"/>
              </a:rPr>
              <a:t>Transport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securise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,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acces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controle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 et conservation des </a:t>
            </a:r>
            <a:r>
              <a:rPr sz="1250" b="0" dirty="0">
                <a:solidFill>
                  <a:srgbClr val="5B6974"/>
                </a:solidFill>
                <a:latin typeface="Aptos"/>
              </a:rPr>
              <a:t>fichiers</a:t>
            </a:r>
            <a:endParaRPr sz="1250" b="0" dirty="0">
              <a:solidFill>
                <a:srgbClr val="5B697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1248293"/>
            <a:ext cx="10332720" cy="2110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UDP assure le transport des </a:t>
            </a:r>
            <a:r>
              <a:rPr dirty="0"/>
              <a:t>datagrammes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DTLS-PSK </a:t>
            </a:r>
            <a:r>
              <a:rPr dirty="0"/>
              <a:t>authentifie</a:t>
            </a:r>
            <a:r>
              <a:rPr dirty="0"/>
              <a:t> les pairs et </a:t>
            </a:r>
            <a:r>
              <a:rPr dirty="0"/>
              <a:t>etablit</a:t>
            </a:r>
            <a:r>
              <a:rPr dirty="0"/>
              <a:t> </a:t>
            </a:r>
            <a:r>
              <a:rPr dirty="0"/>
              <a:t>une</a:t>
            </a:r>
            <a:r>
              <a:rPr dirty="0"/>
              <a:t> session </a:t>
            </a:r>
            <a:r>
              <a:rPr dirty="0"/>
              <a:t>securisee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AES-256-GCM </a:t>
            </a:r>
            <a:r>
              <a:rPr dirty="0"/>
              <a:t>chiffre</a:t>
            </a:r>
            <a:r>
              <a:rPr dirty="0"/>
              <a:t> les </a:t>
            </a:r>
            <a:r>
              <a:rPr dirty="0"/>
              <a:t>donnees</a:t>
            </a:r>
            <a:r>
              <a:rPr dirty="0"/>
              <a:t> et </a:t>
            </a:r>
            <a:r>
              <a:rPr dirty="0"/>
              <a:t>detecte</a:t>
            </a:r>
            <a:r>
              <a:rPr dirty="0"/>
              <a:t> les modifications.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Le </a:t>
            </a:r>
            <a:r>
              <a:rPr dirty="0"/>
              <a:t>protocole</a:t>
            </a:r>
            <a:r>
              <a:rPr dirty="0"/>
              <a:t> P/G/S/D/A/E </a:t>
            </a:r>
            <a:r>
              <a:rPr dirty="0"/>
              <a:t>organise</a:t>
            </a:r>
            <a:r>
              <a:rPr dirty="0"/>
              <a:t> depot, recuperation, blocs et ACK.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Les </a:t>
            </a:r>
            <a:r>
              <a:rPr dirty="0"/>
              <a:t>fichiers</a:t>
            </a:r>
            <a:r>
              <a:rPr dirty="0"/>
              <a:t> </a:t>
            </a:r>
            <a:r>
              <a:rPr dirty="0"/>
              <a:t>gardent</a:t>
            </a:r>
            <a:r>
              <a:rPr dirty="0"/>
              <a:t> </a:t>
            </a:r>
            <a:r>
              <a:rPr dirty="0"/>
              <a:t>leur</a:t>
            </a:r>
            <a:r>
              <a:rPr dirty="0"/>
              <a:t> nom original et </a:t>
            </a:r>
            <a:r>
              <a:rPr dirty="0"/>
              <a:t>sont</a:t>
            </a:r>
            <a:r>
              <a:rPr dirty="0"/>
              <a:t> conserves </a:t>
            </a:r>
            <a:r>
              <a:rPr dirty="0"/>
              <a:t>dans</a:t>
            </a:r>
            <a:r>
              <a:rPr dirty="0"/>
              <a:t> un </a:t>
            </a:r>
            <a:r>
              <a:rPr dirty="0"/>
              <a:t>stockage</a:t>
            </a:r>
            <a:r>
              <a:rPr dirty="0"/>
              <a:t> multi-</a:t>
            </a:r>
            <a:r>
              <a:rPr dirty="0"/>
              <a:t>fichiers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700">
                <a:solidFill>
                  <a:srgbClr val="26323A"/>
                </a:solidFill>
                <a:latin typeface="Aptos"/>
              </a:defRPr>
            </a:pPr>
            <a:r>
              <a:rPr dirty="0"/>
              <a:t>Les droits put/get </a:t>
            </a:r>
            <a:r>
              <a:rPr dirty="0"/>
              <a:t>limitent</a:t>
            </a:r>
            <a:r>
              <a:rPr dirty="0"/>
              <a:t> les operations </a:t>
            </a:r>
            <a:r>
              <a:rPr dirty="0"/>
              <a:t>autorisees</a:t>
            </a:r>
            <a:r>
              <a:rPr dirty="0"/>
              <a:t> par </a:t>
            </a:r>
            <a:r>
              <a:rPr dirty="0"/>
              <a:t>identite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83480"/>
            <a:ext cx="10378440" cy="749808"/>
          </a:xfrm>
          <a:prstGeom prst="roundRect">
            <a:avLst/>
          </a:prstGeom>
          <a:solidFill>
            <a:srgbClr val="EA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68794" y="5129784"/>
            <a:ext cx="1066965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02A43"/>
                </a:solidFill>
                <a:latin typeface="Aptos"/>
              </a:rPr>
              <a:t>Le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systeme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transmet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un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fichier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sur UDP tout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en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protegeant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son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contenu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, son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integrite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 et les operations 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autorisees</a:t>
            </a:r>
            <a:r>
              <a:rPr sz="1500" b="1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1003</Words>
  <Application>Microsoft Office PowerPoint</Application>
  <PresentationFormat>Grand écran</PresentationFormat>
  <Paragraphs>213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Cascadia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Compte Microsoft</cp:lastModifiedBy>
  <cp:revision>3</cp:revision>
  <dcterms:created xsi:type="dcterms:W3CDTF">2013-01-27T09:14:16Z</dcterms:created>
  <dcterms:modified xsi:type="dcterms:W3CDTF">2026-04-16T16:29:39Z</dcterms:modified>
  <cp:category/>
</cp:coreProperties>
</file>